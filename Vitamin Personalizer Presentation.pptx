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Slab"/>
      <p:regular r:id="rId26"/>
      <p:bold r:id="rId27"/>
    </p:embeddedFon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lab-regular.fntdata"/><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font" Target="fonts/RobotoSlab-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41ce957d24e19e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41ce957d24e19e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437b00f65f1557fb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437b00f65f1557fb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437b00f65f1557fb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437b00f65f1557fb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437b00f65f1557fb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437b00f65f1557fb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e759daa1bb96e7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e759daa1bb96e7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e759daa1bb96e7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e759daa1bb96e7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759daa1bb96e7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759daa1bb96e7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159df2f2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7159df2f2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e759daa1bb96e76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e759daa1bb96e7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e759daa1bb96e76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e759daa1bb96e7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759daa1bb96e76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e759daa1bb96e76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159df2f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7159df2f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15ff21d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715ff21d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e759daa1bb96e76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e759daa1bb96e76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e759daa1bb96e76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e759daa1bb96e76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759daa1bb96e7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e759daa1bb96e7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e759daa1bb96e76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e759daa1bb96e76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710b0f67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710b0f67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7159df2f2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7159df2f2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drive.google.com/file/d/1m7UeyyCAZrKxM6a4JjE_0fhPAYSJjfKy/view" TargetMode="Externa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0" y="812900"/>
            <a:ext cx="5783400" cy="122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5000">
              <a:latin typeface="Times New Roman"/>
              <a:ea typeface="Times New Roman"/>
              <a:cs typeface="Times New Roman"/>
              <a:sym typeface="Times New Roman"/>
            </a:endParaRPr>
          </a:p>
          <a:p>
            <a:pPr indent="0" lvl="0" marL="0" rtl="0" algn="ctr">
              <a:spcBef>
                <a:spcPts val="500"/>
              </a:spcBef>
              <a:spcAft>
                <a:spcPts val="0"/>
              </a:spcAft>
              <a:buNone/>
            </a:pPr>
            <a:r>
              <a:rPr b="1" lang="en" sz="4600">
                <a:latin typeface="Times New Roman"/>
                <a:ea typeface="Times New Roman"/>
                <a:cs typeface="Times New Roman"/>
                <a:sym typeface="Times New Roman"/>
              </a:rPr>
              <a:t>Vitamin Personalizer </a:t>
            </a:r>
            <a:r>
              <a:rPr b="1" lang="en" sz="4600">
                <a:latin typeface="Times New Roman"/>
                <a:ea typeface="Times New Roman"/>
                <a:cs typeface="Times New Roman"/>
                <a:sym typeface="Times New Roman"/>
              </a:rPr>
              <a:t>Presentation </a:t>
            </a:r>
            <a:endParaRPr b="1" sz="4600">
              <a:latin typeface="Times New Roman"/>
              <a:ea typeface="Times New Roman"/>
              <a:cs typeface="Times New Roman"/>
              <a:sym typeface="Times New Roman"/>
            </a:endParaRPr>
          </a:p>
          <a:p>
            <a:pPr indent="0" lvl="0" marL="0" rtl="0" algn="ctr">
              <a:spcBef>
                <a:spcPts val="500"/>
              </a:spcBef>
              <a:spcAft>
                <a:spcPts val="500"/>
              </a:spcAft>
              <a:buNone/>
            </a:pPr>
            <a:r>
              <a:t/>
            </a:r>
            <a:endParaRPr b="1" sz="5000">
              <a:latin typeface="Times New Roman"/>
              <a:ea typeface="Times New Roman"/>
              <a:cs typeface="Times New Roman"/>
              <a:sym typeface="Times New Roman"/>
            </a:endParaRPr>
          </a:p>
        </p:txBody>
      </p:sp>
      <p:sp>
        <p:nvSpPr>
          <p:cNvPr id="64" name="Google Shape;64;p13"/>
          <p:cNvSpPr txBox="1"/>
          <p:nvPr>
            <p:ph idx="1" type="subTitle"/>
          </p:nvPr>
        </p:nvSpPr>
        <p:spPr>
          <a:xfrm>
            <a:off x="1680302" y="3064225"/>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700">
                <a:solidFill>
                  <a:schemeClr val="dk1"/>
                </a:solidFill>
                <a:latin typeface="Times New Roman"/>
                <a:ea typeface="Times New Roman"/>
                <a:cs typeface="Times New Roman"/>
                <a:sym typeface="Times New Roman"/>
              </a:rPr>
              <a:t>By: Nhat-Huy Tran, Jonathan Yunes, and Ahmet Ege Aytac </a:t>
            </a:r>
            <a:endParaRPr b="1" sz="1700">
              <a:solidFill>
                <a:schemeClr val="dk1"/>
              </a:solidFill>
              <a:latin typeface="Times New Roman"/>
              <a:ea typeface="Times New Roman"/>
              <a:cs typeface="Times New Roman"/>
              <a:sym typeface="Times New Roman"/>
            </a:endParaRPr>
          </a:p>
          <a:p>
            <a:pPr indent="0" lvl="0" marL="0" rtl="0" algn="ctr">
              <a:spcBef>
                <a:spcPts val="500"/>
              </a:spcBef>
              <a:spcAft>
                <a:spcPts val="0"/>
              </a:spcAft>
              <a:buClr>
                <a:schemeClr val="dk1"/>
              </a:buClr>
              <a:buSzPts val="1100"/>
              <a:buFont typeface="Arial"/>
              <a:buNone/>
            </a:pPr>
            <a:r>
              <a:rPr b="1" lang="en" sz="1700">
                <a:solidFill>
                  <a:schemeClr val="dk1"/>
                </a:solidFill>
                <a:latin typeface="Times New Roman"/>
                <a:ea typeface="Times New Roman"/>
                <a:cs typeface="Times New Roman"/>
                <a:sym typeface="Times New Roman"/>
              </a:rPr>
              <a:t>Wellness Wizards </a:t>
            </a:r>
            <a:endParaRPr b="1" sz="1700">
              <a:solidFill>
                <a:schemeClr val="dk1"/>
              </a:solidFill>
              <a:latin typeface="Times New Roman"/>
              <a:ea typeface="Times New Roman"/>
              <a:cs typeface="Times New Roman"/>
              <a:sym typeface="Times New Roman"/>
            </a:endParaRPr>
          </a:p>
          <a:p>
            <a:pPr indent="0" lvl="0" marL="0" rtl="0" algn="ctr">
              <a:spcBef>
                <a:spcPts val="500"/>
              </a:spcBef>
              <a:spcAft>
                <a:spcPts val="0"/>
              </a:spcAft>
              <a:buClr>
                <a:schemeClr val="dk1"/>
              </a:buClr>
              <a:buSzPts val="1100"/>
              <a:buFont typeface="Arial"/>
              <a:buNone/>
            </a:pPr>
            <a:r>
              <a:rPr b="1" lang="en" sz="1700">
                <a:solidFill>
                  <a:schemeClr val="dk1"/>
                </a:solidFill>
                <a:latin typeface="Times New Roman"/>
                <a:ea typeface="Times New Roman"/>
                <a:cs typeface="Times New Roman"/>
                <a:sym typeface="Times New Roman"/>
              </a:rPr>
              <a:t>July 22 ,2025</a:t>
            </a:r>
            <a:endParaRPr b="1" sz="1700">
              <a:solidFill>
                <a:schemeClr val="dk1"/>
              </a:solidFill>
              <a:latin typeface="Times New Roman"/>
              <a:ea typeface="Times New Roman"/>
              <a:cs typeface="Times New Roman"/>
              <a:sym typeface="Times New Roman"/>
            </a:endParaRPr>
          </a:p>
          <a:p>
            <a:pPr indent="0" lvl="0" marL="0" rtl="0" algn="ctr">
              <a:spcBef>
                <a:spcPts val="500"/>
              </a:spcBef>
              <a:spcAft>
                <a:spcPts val="0"/>
              </a:spcAft>
              <a:buNone/>
            </a:pPr>
            <a:r>
              <a:rPr lang="en" sz="1700"/>
              <a:t> </a:t>
            </a:r>
            <a:endParaRPr sz="1700"/>
          </a:p>
        </p:txBody>
      </p:sp>
      <p:sp>
        <p:nvSpPr>
          <p:cNvPr id="65" name="Google Shape;65;p13"/>
          <p:cNvSpPr txBox="1"/>
          <p:nvPr/>
        </p:nvSpPr>
        <p:spPr>
          <a:xfrm>
            <a:off x="1137900" y="2107951"/>
            <a:ext cx="800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accent4"/>
                </a:solidFill>
              </a:rPr>
              <a:t>Personalized Health Recommendations According To Lab </a:t>
            </a:r>
            <a:r>
              <a:rPr i="1" lang="en" sz="1800">
                <a:solidFill>
                  <a:schemeClr val="accent4"/>
                </a:solidFill>
              </a:rPr>
              <a:t>Analysis </a:t>
            </a:r>
            <a:endParaRPr i="1" sz="1800">
              <a:solidFill>
                <a:schemeClr val="accent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Pages </a:t>
            </a:r>
            <a:r>
              <a:rPr lang="en"/>
              <a:t>Overview </a:t>
            </a:r>
            <a:endParaRPr/>
          </a:p>
        </p:txBody>
      </p:sp>
      <p:sp>
        <p:nvSpPr>
          <p:cNvPr id="71" name="Google Shape;71;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Introduction</a:t>
            </a:r>
            <a:endParaRPr/>
          </a:p>
          <a:p>
            <a:pPr indent="-342900" lvl="0" marL="457200" rtl="0" algn="l">
              <a:spcBef>
                <a:spcPts val="0"/>
              </a:spcBef>
              <a:spcAft>
                <a:spcPts val="0"/>
              </a:spcAft>
              <a:buSzPts val="1800"/>
              <a:buAutoNum type="arabicPeriod"/>
            </a:pPr>
            <a:r>
              <a:rPr lang="en"/>
              <a:t>Overview</a:t>
            </a:r>
            <a:endParaRPr/>
          </a:p>
          <a:p>
            <a:pPr indent="-342900" lvl="0" marL="457200" rtl="0" algn="l">
              <a:spcBef>
                <a:spcPts val="0"/>
              </a:spcBef>
              <a:spcAft>
                <a:spcPts val="0"/>
              </a:spcAft>
              <a:buSzPts val="1800"/>
              <a:buAutoNum type="arabicPeriod"/>
            </a:pPr>
            <a:r>
              <a:rPr lang="en"/>
              <a:t>Problem </a:t>
            </a:r>
            <a:r>
              <a:rPr lang="en"/>
              <a:t>statement </a:t>
            </a:r>
            <a:endParaRPr/>
          </a:p>
          <a:p>
            <a:pPr indent="-342900" lvl="0" marL="457200" rtl="0" algn="l">
              <a:spcBef>
                <a:spcPts val="0"/>
              </a:spcBef>
              <a:spcAft>
                <a:spcPts val="0"/>
              </a:spcAft>
              <a:buSzPts val="1800"/>
              <a:buAutoNum type="arabicPeriod"/>
            </a:pPr>
            <a:r>
              <a:rPr lang="en"/>
              <a:t>Solution</a:t>
            </a:r>
            <a:endParaRPr/>
          </a:p>
          <a:p>
            <a:pPr indent="-342900" lvl="0" marL="457200" rtl="0" algn="l">
              <a:spcBef>
                <a:spcPts val="0"/>
              </a:spcBef>
              <a:spcAft>
                <a:spcPts val="0"/>
              </a:spcAft>
              <a:buSzPts val="1800"/>
              <a:buAutoNum type="arabicPeriod"/>
            </a:pPr>
            <a:r>
              <a:rPr lang="en"/>
              <a:t>Target Users</a:t>
            </a:r>
            <a:endParaRPr/>
          </a:p>
          <a:p>
            <a:pPr indent="-342900" lvl="0" marL="457200" rtl="0" algn="l">
              <a:spcBef>
                <a:spcPts val="0"/>
              </a:spcBef>
              <a:spcAft>
                <a:spcPts val="0"/>
              </a:spcAft>
              <a:buSzPts val="1800"/>
              <a:buAutoNum type="arabicPeriod"/>
            </a:pPr>
            <a:r>
              <a:rPr lang="en"/>
              <a:t>System Architecture Design </a:t>
            </a:r>
            <a:endParaRPr/>
          </a:p>
          <a:p>
            <a:pPr indent="-342900" lvl="0" marL="457200" rtl="0" algn="l">
              <a:spcBef>
                <a:spcPts val="0"/>
              </a:spcBef>
              <a:spcAft>
                <a:spcPts val="0"/>
              </a:spcAft>
              <a:buSzPts val="1800"/>
              <a:buAutoNum type="arabicPeriod"/>
            </a:pPr>
            <a:r>
              <a:rPr lang="en"/>
              <a:t>UML Diagram</a:t>
            </a:r>
            <a:endParaRPr/>
          </a:p>
          <a:p>
            <a:pPr indent="-342900" lvl="0" marL="457200" rtl="0" algn="l">
              <a:spcBef>
                <a:spcPts val="0"/>
              </a:spcBef>
              <a:spcAft>
                <a:spcPts val="0"/>
              </a:spcAft>
              <a:buSzPts val="1800"/>
              <a:buAutoNum type="arabicPeriod"/>
            </a:pPr>
            <a:r>
              <a:rPr lang="en"/>
              <a:t>Use Case Diagram</a:t>
            </a:r>
            <a:endParaRPr/>
          </a:p>
          <a:p>
            <a:pPr indent="-342900" lvl="0" marL="457200" rtl="0" algn="l">
              <a:spcBef>
                <a:spcPts val="0"/>
              </a:spcBef>
              <a:spcAft>
                <a:spcPts val="0"/>
              </a:spcAft>
              <a:buSzPts val="1800"/>
              <a:buAutoNum type="arabicPeriod"/>
            </a:pPr>
            <a:r>
              <a:rPr lang="en"/>
              <a:t>Software Components </a:t>
            </a:r>
            <a:endParaRPr/>
          </a:p>
          <a:p>
            <a:pPr indent="-342900" lvl="0" marL="457200" rtl="0" algn="l">
              <a:spcBef>
                <a:spcPts val="0"/>
              </a:spcBef>
              <a:spcAft>
                <a:spcPts val="0"/>
              </a:spcAft>
              <a:buSzPts val="1800"/>
              <a:buAutoNum type="arabicPeriod"/>
            </a:pPr>
            <a:r>
              <a:rPr lang="en"/>
              <a:t>System requirements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Problem </a:t>
            </a:r>
            <a:r>
              <a:rPr lang="en"/>
              <a:t>Statement </a:t>
            </a:r>
            <a:endParaRPr/>
          </a:p>
        </p:txBody>
      </p:sp>
      <p:sp>
        <p:nvSpPr>
          <p:cNvPr id="77" name="Google Shape;77;p1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t>Modern Problem</a:t>
            </a:r>
            <a:endParaRPr b="1"/>
          </a:p>
          <a:p>
            <a:pPr indent="-334327" lvl="0" marL="457200" rtl="0" algn="l">
              <a:spcBef>
                <a:spcPts val="1200"/>
              </a:spcBef>
              <a:spcAft>
                <a:spcPts val="0"/>
              </a:spcAft>
              <a:buSzPct val="100000"/>
              <a:buChar char="●"/>
            </a:pPr>
            <a:r>
              <a:rPr lang="en"/>
              <a:t>Many sickness and health problems occur due to lack of nutrition and vitamins</a:t>
            </a:r>
            <a:endParaRPr/>
          </a:p>
          <a:p>
            <a:pPr indent="-334327" lvl="0" marL="457200" rtl="0" algn="l">
              <a:spcBef>
                <a:spcPts val="0"/>
              </a:spcBef>
              <a:spcAft>
                <a:spcPts val="0"/>
              </a:spcAft>
              <a:buSzPct val="100000"/>
              <a:buChar char="●"/>
            </a:pPr>
            <a:r>
              <a:rPr lang="en"/>
              <a:t>Today’s world relies heavily on fast food and frozen products</a:t>
            </a:r>
            <a:endParaRPr/>
          </a:p>
          <a:p>
            <a:pPr indent="-334327" lvl="0" marL="457200" rtl="0" algn="l">
              <a:spcBef>
                <a:spcPts val="0"/>
              </a:spcBef>
              <a:spcAft>
                <a:spcPts val="0"/>
              </a:spcAft>
              <a:buSzPct val="100000"/>
              <a:buChar char="●"/>
            </a:pPr>
            <a:r>
              <a:rPr lang="en"/>
              <a:t>Difficult to obtain essential nutrients from modern eating habit</a:t>
            </a:r>
            <a:endParaRPr/>
          </a:p>
          <a:p>
            <a:pPr indent="0" lvl="0" marL="0" rtl="0" algn="l">
              <a:spcBef>
                <a:spcPts val="1200"/>
              </a:spcBef>
              <a:spcAft>
                <a:spcPts val="0"/>
              </a:spcAft>
              <a:buNone/>
            </a:pPr>
            <a:r>
              <a:rPr b="1" lang="en"/>
              <a:t>Communication problem</a:t>
            </a:r>
            <a:endParaRPr b="1"/>
          </a:p>
          <a:p>
            <a:pPr indent="-334327" lvl="0" marL="457200" rtl="0" algn="l">
              <a:spcBef>
                <a:spcPts val="1200"/>
              </a:spcBef>
              <a:spcAft>
                <a:spcPts val="0"/>
              </a:spcAft>
              <a:buSzPct val="100000"/>
              <a:buChar char="●"/>
            </a:pPr>
            <a:r>
              <a:rPr lang="en"/>
              <a:t>Lab test results show health problems but are hard to read and understand</a:t>
            </a:r>
            <a:endParaRPr/>
          </a:p>
          <a:p>
            <a:pPr indent="-334327" lvl="0" marL="457200" rtl="0" algn="l">
              <a:spcBef>
                <a:spcPts val="0"/>
              </a:spcBef>
              <a:spcAft>
                <a:spcPts val="0"/>
              </a:spcAft>
              <a:buSzPct val="100000"/>
              <a:buChar char="●"/>
            </a:pPr>
            <a:r>
              <a:rPr lang="en"/>
              <a:t>Expert interpretation required for most people</a:t>
            </a:r>
            <a:endParaRPr/>
          </a:p>
          <a:p>
            <a:pPr indent="-334327" lvl="0" marL="457200" rtl="0" algn="l">
              <a:spcBef>
                <a:spcPts val="0"/>
              </a:spcBef>
              <a:spcAft>
                <a:spcPts val="0"/>
              </a:spcAft>
              <a:buSzPct val="100000"/>
              <a:buChar char="●"/>
            </a:pPr>
            <a:r>
              <a:rPr lang="en"/>
              <a:t>Results may have hidden connections that cause health issues</a:t>
            </a:r>
            <a:endParaRPr/>
          </a:p>
          <a:p>
            <a:pPr indent="-334327" lvl="0" marL="457200" rtl="0" algn="l">
              <a:spcBef>
                <a:spcPts val="0"/>
              </a:spcBef>
              <a:spcAft>
                <a:spcPts val="0"/>
              </a:spcAft>
              <a:buSzPct val="100000"/>
              <a:buChar char="●"/>
            </a:pPr>
            <a:r>
              <a:rPr lang="en"/>
              <a:t>Complex relationships between lab results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Software that:</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Identifies which vitamins are lacking with checking 50 lab results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Calculates Body Measurement Index (BMI)</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Recommends specific vitamins and diet plans users should follow without experts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Uses data from known clinics and health organizations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Provides most accurate health information available</a:t>
            </a:r>
            <a:endParaRPr/>
          </a:p>
        </p:txBody>
      </p:sp>
      <p:sp>
        <p:nvSpPr>
          <p:cNvPr id="83" name="Google Shape;83;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Solution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Target Users</a:t>
            </a:r>
            <a:endParaRPr/>
          </a:p>
        </p:txBody>
      </p:sp>
      <p:sp>
        <p:nvSpPr>
          <p:cNvPr id="89" name="Google Shape;89;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Primary Users:</a:t>
            </a:r>
            <a:endParaRPr/>
          </a:p>
          <a:p>
            <a:pPr indent="0" lvl="0" marL="0" rtl="0" algn="l">
              <a:spcBef>
                <a:spcPts val="1200"/>
              </a:spcBef>
              <a:spcAft>
                <a:spcPts val="0"/>
              </a:spcAft>
              <a:buNone/>
            </a:pPr>
            <a:r>
              <a:rPr lang="en"/>
              <a:t>	-Individuals with dietary restrictions</a:t>
            </a:r>
            <a:endParaRPr/>
          </a:p>
          <a:p>
            <a:pPr indent="0" lvl="0" marL="0" rtl="0" algn="l">
              <a:spcBef>
                <a:spcPts val="1200"/>
              </a:spcBef>
              <a:spcAft>
                <a:spcPts val="0"/>
              </a:spcAft>
              <a:buNone/>
            </a:pPr>
            <a:r>
              <a:rPr lang="en"/>
              <a:t>	-Older adults monitoring health metrics</a:t>
            </a:r>
            <a:endParaRPr/>
          </a:p>
          <a:p>
            <a:pPr indent="0" lvl="0" marL="0" rtl="0" algn="l">
              <a:spcBef>
                <a:spcPts val="1200"/>
              </a:spcBef>
              <a:spcAft>
                <a:spcPts val="0"/>
              </a:spcAft>
              <a:buNone/>
            </a:pPr>
            <a:r>
              <a:rPr lang="en"/>
              <a:t>	-Athletes optimizing performance</a:t>
            </a:r>
            <a:endParaRPr/>
          </a:p>
          <a:p>
            <a:pPr indent="0" lvl="0" marL="0" rtl="0" algn="l">
              <a:spcBef>
                <a:spcPts val="1200"/>
              </a:spcBef>
              <a:spcAft>
                <a:spcPts val="0"/>
              </a:spcAft>
              <a:buNone/>
            </a:pPr>
            <a:r>
              <a:rPr lang="en"/>
              <a:t>	-People seeking personalized nutrition</a:t>
            </a:r>
            <a:endParaRPr/>
          </a:p>
          <a:p>
            <a:pPr indent="0" lvl="0" marL="0" rtl="0" algn="l">
              <a:spcBef>
                <a:spcPts val="1200"/>
              </a:spcBef>
              <a:spcAft>
                <a:spcPts val="0"/>
              </a:spcAft>
              <a:buNone/>
            </a:pPr>
            <a:r>
              <a:rPr lang="en"/>
              <a:t>Secondary Users:</a:t>
            </a:r>
            <a:endParaRPr/>
          </a:p>
          <a:p>
            <a:pPr indent="0" lvl="0" marL="0" rtl="0" algn="l">
              <a:spcBef>
                <a:spcPts val="1200"/>
              </a:spcBef>
              <a:spcAft>
                <a:spcPts val="0"/>
              </a:spcAft>
              <a:buNone/>
            </a:pPr>
            <a:r>
              <a:rPr lang="en"/>
              <a:t>	-Healthcare providers</a:t>
            </a:r>
            <a:endParaRPr/>
          </a:p>
          <a:p>
            <a:pPr indent="0" lvl="0" marL="0" rtl="0" algn="l">
              <a:spcBef>
                <a:spcPts val="1200"/>
              </a:spcBef>
              <a:spcAft>
                <a:spcPts val="1200"/>
              </a:spcAft>
              <a:buNone/>
            </a:pPr>
            <a:r>
              <a:rPr lang="en"/>
              <a:t>	-Clinics and wellness centers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System </a:t>
            </a:r>
            <a:r>
              <a:rPr lang="en"/>
              <a:t>Architecture </a:t>
            </a:r>
            <a:r>
              <a:rPr lang="en"/>
              <a:t>Design </a:t>
            </a:r>
            <a:endParaRPr/>
          </a:p>
        </p:txBody>
      </p:sp>
      <p:sp>
        <p:nvSpPr>
          <p:cNvPr id="95" name="Google Shape;95;p18"/>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1090"/>
              <a:t>Presentation Layer (main.py)</a:t>
            </a:r>
            <a:endParaRPr b="1" sz="1090"/>
          </a:p>
          <a:p>
            <a:pPr indent="-297815" lvl="0" marL="457200" rtl="0" algn="l">
              <a:lnSpc>
                <a:spcPct val="95000"/>
              </a:lnSpc>
              <a:spcBef>
                <a:spcPts val="1200"/>
              </a:spcBef>
              <a:spcAft>
                <a:spcPts val="0"/>
              </a:spcAft>
              <a:buSzPts val="1090"/>
              <a:buChar char="●"/>
            </a:pPr>
            <a:r>
              <a:rPr lang="en" sz="1090"/>
              <a:t>Shows menus and screens to users</a:t>
            </a:r>
            <a:endParaRPr sz="1090"/>
          </a:p>
          <a:p>
            <a:pPr indent="-297815" lvl="0" marL="457200" rtl="0" algn="l">
              <a:lnSpc>
                <a:spcPct val="95000"/>
              </a:lnSpc>
              <a:spcBef>
                <a:spcPts val="0"/>
              </a:spcBef>
              <a:spcAft>
                <a:spcPts val="0"/>
              </a:spcAft>
              <a:buSzPts val="1090"/>
              <a:buChar char="●"/>
            </a:pPr>
            <a:r>
              <a:rPr lang="en" sz="1090"/>
              <a:t>Handles registration (name, age, height, weight, gender)Collects blood work data for 50+ lab tests</a:t>
            </a:r>
            <a:endParaRPr sz="1090"/>
          </a:p>
          <a:p>
            <a:pPr indent="-297815" lvl="0" marL="457200" rtl="0" algn="l">
              <a:lnSpc>
                <a:spcPct val="95000"/>
              </a:lnSpc>
              <a:spcBef>
                <a:spcPts val="0"/>
              </a:spcBef>
              <a:spcAft>
                <a:spcPts val="0"/>
              </a:spcAft>
              <a:buSzPts val="1090"/>
              <a:buChar char="●"/>
            </a:pPr>
            <a:r>
              <a:rPr lang="en" sz="1090"/>
              <a:t>Displays analysis results and recommendations </a:t>
            </a:r>
            <a:endParaRPr sz="1090"/>
          </a:p>
          <a:p>
            <a:pPr indent="0" lvl="0" marL="0" rtl="0" algn="l">
              <a:lnSpc>
                <a:spcPct val="95000"/>
              </a:lnSpc>
              <a:spcBef>
                <a:spcPts val="1200"/>
              </a:spcBef>
              <a:spcAft>
                <a:spcPts val="0"/>
              </a:spcAft>
              <a:buSzPts val="605"/>
              <a:buNone/>
            </a:pPr>
            <a:r>
              <a:rPr lang="en" sz="1090"/>
              <a:t> </a:t>
            </a:r>
            <a:r>
              <a:rPr b="1" lang="en" sz="1090"/>
              <a:t>Business Logic Layer (lab_analyzer.py)</a:t>
            </a:r>
            <a:endParaRPr b="1" sz="1090"/>
          </a:p>
          <a:p>
            <a:pPr indent="-297815" lvl="0" marL="457200" rtl="0" algn="l">
              <a:lnSpc>
                <a:spcPct val="95000"/>
              </a:lnSpc>
              <a:spcBef>
                <a:spcPts val="1200"/>
              </a:spcBef>
              <a:spcAft>
                <a:spcPts val="0"/>
              </a:spcAft>
              <a:buSzPts val="1090"/>
              <a:buChar char="●"/>
            </a:pPr>
            <a:r>
              <a:rPr lang="en" sz="1090"/>
              <a:t>Calculates BMI from user’s physical measurements</a:t>
            </a:r>
            <a:endParaRPr sz="1090"/>
          </a:p>
          <a:p>
            <a:pPr indent="-297815" lvl="0" marL="457200" rtl="0" algn="l">
              <a:lnSpc>
                <a:spcPct val="95000"/>
              </a:lnSpc>
              <a:spcBef>
                <a:spcPts val="0"/>
              </a:spcBef>
              <a:spcAft>
                <a:spcPts val="0"/>
              </a:spcAft>
              <a:buSzPts val="1090"/>
              <a:buChar char="●"/>
            </a:pPr>
            <a:r>
              <a:rPr lang="en" sz="1090"/>
              <a:t>Compares blood values to normal ranges by age/gender</a:t>
            </a:r>
            <a:endParaRPr sz="1090"/>
          </a:p>
          <a:p>
            <a:pPr indent="-297815" lvl="0" marL="457200" rtl="0" algn="l">
              <a:lnSpc>
                <a:spcPct val="95000"/>
              </a:lnSpc>
              <a:spcBef>
                <a:spcPts val="0"/>
              </a:spcBef>
              <a:spcAft>
                <a:spcPts val="0"/>
              </a:spcAft>
              <a:buSzPts val="1090"/>
              <a:buChar char="●"/>
            </a:pPr>
            <a:r>
              <a:rPr lang="en" sz="1090"/>
              <a:t>Labels each test as Low, Normal, or High</a:t>
            </a:r>
            <a:endParaRPr sz="1090"/>
          </a:p>
          <a:p>
            <a:pPr indent="-297815" lvl="0" marL="457200" rtl="0" algn="l">
              <a:lnSpc>
                <a:spcPct val="95000"/>
              </a:lnSpc>
              <a:spcBef>
                <a:spcPts val="0"/>
              </a:spcBef>
              <a:spcAft>
                <a:spcPts val="0"/>
              </a:spcAft>
              <a:buSzPts val="1090"/>
              <a:buChar char="●"/>
            </a:pPr>
            <a:r>
              <a:rPr lang="en" sz="1090"/>
              <a:t>Creates personalized vitamin and diet suggestions</a:t>
            </a:r>
            <a:endParaRPr sz="1090"/>
          </a:p>
          <a:p>
            <a:pPr indent="0" lvl="0" marL="0" rtl="0" algn="l">
              <a:lnSpc>
                <a:spcPct val="95000"/>
              </a:lnSpc>
              <a:spcBef>
                <a:spcPts val="1200"/>
              </a:spcBef>
              <a:spcAft>
                <a:spcPts val="0"/>
              </a:spcAft>
              <a:buSzPts val="605"/>
              <a:buNone/>
            </a:pPr>
            <a:r>
              <a:rPr b="1" lang="en" sz="1090"/>
              <a:t>Data Layer (lab_data.py)</a:t>
            </a:r>
            <a:endParaRPr b="1" sz="1090"/>
          </a:p>
          <a:p>
            <a:pPr indent="-297815" lvl="0" marL="457200" rtl="0" algn="l">
              <a:lnSpc>
                <a:spcPct val="95000"/>
              </a:lnSpc>
              <a:spcBef>
                <a:spcPts val="1200"/>
              </a:spcBef>
              <a:spcAft>
                <a:spcPts val="0"/>
              </a:spcAft>
              <a:buSzPts val="1090"/>
              <a:buChar char="●"/>
            </a:pPr>
            <a:r>
              <a:rPr lang="en" sz="1090"/>
              <a:t>Stores user accounts with unique IDs</a:t>
            </a:r>
            <a:endParaRPr sz="1090"/>
          </a:p>
          <a:p>
            <a:pPr indent="-297815" lvl="0" marL="457200" rtl="0" algn="l">
              <a:lnSpc>
                <a:spcPct val="95000"/>
              </a:lnSpc>
              <a:spcBef>
                <a:spcPts val="0"/>
              </a:spcBef>
              <a:spcAft>
                <a:spcPts val="0"/>
              </a:spcAft>
              <a:buSzPts val="1090"/>
              <a:buChar char="●"/>
            </a:pPr>
            <a:r>
              <a:rPr lang="en" sz="1090"/>
              <a:t>Saves all blood test results with timestamps</a:t>
            </a:r>
            <a:endParaRPr sz="1090"/>
          </a:p>
          <a:p>
            <a:pPr indent="-297815" lvl="0" marL="457200" rtl="0" algn="l">
              <a:lnSpc>
                <a:spcPct val="95000"/>
              </a:lnSpc>
              <a:spcBef>
                <a:spcPts val="0"/>
              </a:spcBef>
              <a:spcAft>
                <a:spcPts val="0"/>
              </a:spcAft>
              <a:buSzPts val="1090"/>
              <a:buChar char="●"/>
            </a:pPr>
            <a:r>
              <a:rPr lang="en" sz="1090"/>
              <a:t>Manages vitamin reference database</a:t>
            </a:r>
            <a:endParaRPr sz="1090"/>
          </a:p>
          <a:p>
            <a:pPr indent="-297815" lvl="0" marL="457200" rtl="0" algn="l">
              <a:lnSpc>
                <a:spcPct val="95000"/>
              </a:lnSpc>
              <a:spcBef>
                <a:spcPts val="0"/>
              </a:spcBef>
              <a:spcAft>
                <a:spcPts val="0"/>
              </a:spcAft>
              <a:buSzPts val="1090"/>
              <a:buChar char="●"/>
            </a:pPr>
            <a:r>
              <a:rPr lang="en" sz="1090"/>
              <a:t>Handles login verification and data updates</a:t>
            </a:r>
            <a:endParaRPr sz="109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1388099" y="2174536"/>
            <a:ext cx="7130100" cy="704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UML Diagram</a:t>
            </a:r>
            <a:endParaRPr/>
          </a:p>
        </p:txBody>
      </p:sp>
      <p:pic>
        <p:nvPicPr>
          <p:cNvPr id="101" name="Google Shape;101;p19"/>
          <p:cNvPicPr preferRelativeResize="0"/>
          <p:nvPr/>
        </p:nvPicPr>
        <p:blipFill>
          <a:blip r:embed="rId3">
            <a:alphaModFix/>
          </a:blip>
          <a:stretch>
            <a:fillRect/>
          </a:stretch>
        </p:blipFill>
        <p:spPr>
          <a:xfrm>
            <a:off x="4145575" y="225637"/>
            <a:ext cx="4670801" cy="4602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1" y="103473"/>
            <a:ext cx="8520600" cy="841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 case diagram</a:t>
            </a:r>
            <a:endParaRPr/>
          </a:p>
          <a:p>
            <a:pPr indent="0" lvl="0" marL="0" rtl="0" algn="ctr">
              <a:spcBef>
                <a:spcPts val="0"/>
              </a:spcBef>
              <a:spcAft>
                <a:spcPts val="0"/>
              </a:spcAft>
              <a:buNone/>
            </a:pPr>
            <a:r>
              <a:t/>
            </a:r>
            <a:endParaRPr/>
          </a:p>
        </p:txBody>
      </p:sp>
      <p:pic>
        <p:nvPicPr>
          <p:cNvPr id="107" name="Google Shape;107;p20"/>
          <p:cNvPicPr preferRelativeResize="0"/>
          <p:nvPr/>
        </p:nvPicPr>
        <p:blipFill>
          <a:blip r:embed="rId3">
            <a:alphaModFix/>
          </a:blip>
          <a:stretch>
            <a:fillRect/>
          </a:stretch>
        </p:blipFill>
        <p:spPr>
          <a:xfrm>
            <a:off x="1487588" y="945275"/>
            <a:ext cx="6168817" cy="3954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87900" y="258475"/>
            <a:ext cx="8368200" cy="68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500"/>
              <a:t>Activity Diagram</a:t>
            </a:r>
            <a:endParaRPr sz="3500"/>
          </a:p>
        </p:txBody>
      </p:sp>
      <p:pic>
        <p:nvPicPr>
          <p:cNvPr id="113" name="Google Shape;113;p21"/>
          <p:cNvPicPr preferRelativeResize="0"/>
          <p:nvPr/>
        </p:nvPicPr>
        <p:blipFill>
          <a:blip r:embed="rId3">
            <a:alphaModFix/>
          </a:blip>
          <a:stretch>
            <a:fillRect/>
          </a:stretch>
        </p:blipFill>
        <p:spPr>
          <a:xfrm>
            <a:off x="1381825" y="1144125"/>
            <a:ext cx="6380348" cy="3694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Software Components</a:t>
            </a:r>
            <a:endParaRPr/>
          </a:p>
        </p:txBody>
      </p:sp>
      <p:sp>
        <p:nvSpPr>
          <p:cNvPr id="119" name="Google Shape;119;p2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main.py</a:t>
            </a:r>
            <a:r>
              <a:rPr lang="en"/>
              <a:t> :Central interface and application controller</a:t>
            </a:r>
            <a:endParaRPr/>
          </a:p>
          <a:p>
            <a:pPr indent="0" lvl="0" marL="0" rtl="0" algn="l">
              <a:spcBef>
                <a:spcPts val="1200"/>
              </a:spcBef>
              <a:spcAft>
                <a:spcPts val="0"/>
              </a:spcAft>
              <a:buNone/>
            </a:pPr>
            <a:r>
              <a:rPr b="1" lang="en" u="sng"/>
              <a:t>lab_analyzer.py </a:t>
            </a:r>
            <a:r>
              <a:rPr lang="en"/>
              <a:t>:Blood work analysis and recommendation engine</a:t>
            </a:r>
            <a:endParaRPr/>
          </a:p>
          <a:p>
            <a:pPr indent="0" lvl="0" marL="0" rtl="0" algn="l">
              <a:spcBef>
                <a:spcPts val="1200"/>
              </a:spcBef>
              <a:spcAft>
                <a:spcPts val="0"/>
              </a:spcAft>
              <a:buNone/>
            </a:pPr>
            <a:r>
              <a:rPr b="1" lang="en" u="sng"/>
              <a:t>lab_data.py</a:t>
            </a:r>
            <a:r>
              <a:rPr lang="en"/>
              <a:t> : SQLite database operations and data management</a:t>
            </a:r>
            <a:endParaRPr/>
          </a:p>
          <a:p>
            <a:pPr indent="0" lvl="0" marL="0" rtl="0" algn="l">
              <a:spcBef>
                <a:spcPts val="1200"/>
              </a:spcBef>
              <a:spcAft>
                <a:spcPts val="0"/>
              </a:spcAft>
              <a:buNone/>
            </a:pPr>
            <a:r>
              <a:rPr b="1" lang="en" u="sng"/>
              <a:t>user.py :</a:t>
            </a:r>
            <a:r>
              <a:rPr lang="en"/>
              <a:t>Authentication and user profile management</a:t>
            </a:r>
            <a:endParaRPr/>
          </a:p>
          <a:p>
            <a:pPr indent="0" lvl="0" marL="0" rtl="0" algn="l">
              <a:spcBef>
                <a:spcPts val="1200"/>
              </a:spcBef>
              <a:spcAft>
                <a:spcPts val="0"/>
              </a:spcAft>
              <a:buNone/>
            </a:pPr>
            <a:r>
              <a:rPr b="1" lang="en" u="sng"/>
              <a:t>lab_result.py</a:t>
            </a:r>
            <a:r>
              <a:rPr lang="en"/>
              <a:t> : Data structures for storing test results</a:t>
            </a:r>
            <a:endParaRPr/>
          </a:p>
          <a:p>
            <a:pPr indent="0" lvl="0" marL="0" rtl="0" algn="l">
              <a:spcBef>
                <a:spcPts val="1200"/>
              </a:spcBef>
              <a:spcAft>
                <a:spcPts val="1200"/>
              </a:spcAft>
              <a:buNone/>
            </a:pPr>
            <a:r>
              <a:rPr b="1" lang="en" u="sng"/>
              <a:t>vitamin_vocabulary.py </a:t>
            </a:r>
            <a:r>
              <a:rPr lang="en"/>
              <a:t>:Vocabulary content of all about vitamins​​​​​​​​​​​​​​​​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System </a:t>
            </a:r>
            <a:r>
              <a:rPr lang="en"/>
              <a:t>Requirements </a:t>
            </a:r>
            <a:endParaRPr/>
          </a:p>
        </p:txBody>
      </p:sp>
      <p:sp>
        <p:nvSpPr>
          <p:cNvPr id="125" name="Google Shape;125;p23"/>
          <p:cNvSpPr txBox="1"/>
          <p:nvPr>
            <p:ph idx="1" type="body"/>
          </p:nvPr>
        </p:nvSpPr>
        <p:spPr>
          <a:xfrm>
            <a:off x="432375" y="1467574"/>
            <a:ext cx="8368200" cy="307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Hardware Requirements:</a:t>
            </a:r>
            <a:endParaRPr/>
          </a:p>
          <a:p>
            <a:pPr indent="-342900" lvl="0" marL="457200" rtl="0" algn="l">
              <a:spcBef>
                <a:spcPts val="1200"/>
              </a:spcBef>
              <a:spcAft>
                <a:spcPts val="0"/>
              </a:spcAft>
              <a:buSzPts val="1800"/>
              <a:buChar char="●"/>
            </a:pPr>
            <a:r>
              <a:rPr lang="en"/>
              <a:t>Windows 10 Operating System</a:t>
            </a:r>
            <a:endParaRPr/>
          </a:p>
          <a:p>
            <a:pPr indent="-342900" lvl="0" marL="457200" rtl="0" algn="l">
              <a:spcBef>
                <a:spcPts val="0"/>
              </a:spcBef>
              <a:spcAft>
                <a:spcPts val="0"/>
              </a:spcAft>
              <a:buSzPts val="1800"/>
              <a:buChar char="●"/>
            </a:pPr>
            <a:r>
              <a:rPr lang="en"/>
              <a:t>4GB RAM minimum</a:t>
            </a:r>
            <a:endParaRPr/>
          </a:p>
          <a:p>
            <a:pPr indent="-342900" lvl="0" marL="457200" rtl="0" algn="l">
              <a:spcBef>
                <a:spcPts val="0"/>
              </a:spcBef>
              <a:spcAft>
                <a:spcPts val="0"/>
              </a:spcAft>
              <a:buSzPts val="1800"/>
              <a:buChar char="●"/>
            </a:pPr>
            <a:r>
              <a:rPr lang="en"/>
              <a:t>10GB free storage space</a:t>
            </a:r>
            <a:endParaRPr/>
          </a:p>
          <a:p>
            <a:pPr indent="0" lvl="0" marL="0" rtl="0" algn="l">
              <a:spcBef>
                <a:spcPts val="1200"/>
              </a:spcBef>
              <a:spcAft>
                <a:spcPts val="0"/>
              </a:spcAft>
              <a:buNone/>
            </a:pPr>
            <a:r>
              <a:rPr lang="en"/>
              <a:t>Software Requirements:</a:t>
            </a:r>
            <a:endParaRPr/>
          </a:p>
          <a:p>
            <a:pPr indent="-342900" lvl="0" marL="457200" rtl="0" algn="l">
              <a:spcBef>
                <a:spcPts val="1200"/>
              </a:spcBef>
              <a:spcAft>
                <a:spcPts val="0"/>
              </a:spcAft>
              <a:buSzPts val="1800"/>
              <a:buChar char="●"/>
            </a:pPr>
            <a:r>
              <a:rPr lang="en"/>
              <a:t>Python</a:t>
            </a:r>
            <a:endParaRPr/>
          </a:p>
          <a:p>
            <a:pPr indent="-342900" lvl="0" marL="457200" rtl="0" algn="l">
              <a:spcBef>
                <a:spcPts val="0"/>
              </a:spcBef>
              <a:spcAft>
                <a:spcPts val="0"/>
              </a:spcAft>
              <a:buSzPts val="1800"/>
              <a:buChar char="●"/>
            </a:pPr>
            <a:r>
              <a:rPr lang="en"/>
              <a:t>SQLite Database integration </a:t>
            </a:r>
            <a:endParaRPr/>
          </a:p>
          <a:p>
            <a:pPr indent="-342900" lvl="0" marL="457200" rtl="0" algn="l">
              <a:spcBef>
                <a:spcPts val="0"/>
              </a:spcBef>
              <a:spcAft>
                <a:spcPts val="0"/>
              </a:spcAft>
              <a:buSzPts val="1800"/>
              <a:buChar char="●"/>
            </a:pPr>
            <a:r>
              <a:rPr lang="en"/>
              <a:t>Install PDF Generation Libraries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Test Cases #1</a:t>
            </a:r>
            <a:endParaRPr/>
          </a:p>
        </p:txBody>
      </p:sp>
      <p:sp>
        <p:nvSpPr>
          <p:cNvPr id="131" name="Google Shape;131;p2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Account Registration (VP-01 AR)</a:t>
            </a:r>
            <a:endParaRPr/>
          </a:p>
          <a:p>
            <a:pPr indent="-334327" lvl="0" marL="457200" rtl="0" algn="l">
              <a:spcBef>
                <a:spcPts val="1200"/>
              </a:spcBef>
              <a:spcAft>
                <a:spcPts val="0"/>
              </a:spcAft>
              <a:buSzPct val="100000"/>
              <a:buChar char="-"/>
            </a:pPr>
            <a:r>
              <a:rPr lang="en"/>
              <a:t>Should register the user with a valid name, age, sex, height, weight, and BMI.  At the end, the user should be given a unique ID, indicating a successful registration.</a:t>
            </a:r>
            <a:endParaRPr/>
          </a:p>
          <a:p>
            <a:pPr indent="0" lvl="0" marL="0" rtl="0" algn="l">
              <a:spcBef>
                <a:spcPts val="1200"/>
              </a:spcBef>
              <a:spcAft>
                <a:spcPts val="0"/>
              </a:spcAft>
              <a:buNone/>
            </a:pPr>
            <a:r>
              <a:rPr lang="en"/>
              <a:t>New Blood work results (VP-02 BL)</a:t>
            </a:r>
            <a:endParaRPr/>
          </a:p>
          <a:p>
            <a:pPr indent="-334327" lvl="0" marL="457200" rtl="0" algn="l">
              <a:spcBef>
                <a:spcPts val="1200"/>
              </a:spcBef>
              <a:spcAft>
                <a:spcPts val="0"/>
              </a:spcAft>
              <a:buSzPct val="100000"/>
              <a:buChar char="-"/>
            </a:pPr>
            <a:r>
              <a:rPr lang="en"/>
              <a:t>The user enters lab results for all 50 vitamins listed for the first time.  The user can leave any vitamins blank to omit from analysis.</a:t>
            </a:r>
            <a:endParaRPr/>
          </a:p>
          <a:p>
            <a:pPr indent="0" lvl="0" marL="0" rtl="0" algn="l">
              <a:spcBef>
                <a:spcPts val="1200"/>
              </a:spcBef>
              <a:spcAft>
                <a:spcPts val="0"/>
              </a:spcAft>
              <a:buNone/>
            </a:pPr>
            <a:r>
              <a:rPr lang="en"/>
              <a:t>Updating Blood work (VP-03 UR)</a:t>
            </a:r>
            <a:endParaRPr/>
          </a:p>
          <a:p>
            <a:pPr indent="-334327" lvl="0" marL="457200" rtl="0" algn="l">
              <a:spcBef>
                <a:spcPts val="1200"/>
              </a:spcBef>
              <a:spcAft>
                <a:spcPts val="0"/>
              </a:spcAft>
              <a:buSzPct val="100000"/>
              <a:buChar char="-"/>
            </a:pPr>
            <a:r>
              <a:rPr lang="en"/>
              <a:t>The user should update with new values to replace old values.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Test Cases #2</a:t>
            </a:r>
            <a:endParaRPr/>
          </a:p>
        </p:txBody>
      </p:sp>
      <p:sp>
        <p:nvSpPr>
          <p:cNvPr id="137" name="Google Shape;137;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Clr>
                <a:schemeClr val="dk1"/>
              </a:buClr>
              <a:buSzPct val="61111"/>
              <a:buFont typeface="Arial"/>
              <a:buNone/>
            </a:pPr>
            <a:r>
              <a:rPr lang="en"/>
              <a:t>High and Low Value Testing (VP-04 HL)</a:t>
            </a:r>
            <a:endParaRPr/>
          </a:p>
          <a:p>
            <a:pPr indent="-291465" lvl="0" marL="457200" rtl="0" algn="l">
              <a:spcBef>
                <a:spcPts val="1200"/>
              </a:spcBef>
              <a:spcAft>
                <a:spcPts val="0"/>
              </a:spcAft>
              <a:buSzPct val="100000"/>
              <a:buChar char="-"/>
            </a:pPr>
            <a:r>
              <a:rPr lang="en"/>
              <a:t>Use predetermined values for the 50 vitamins listed to test the accuracy of the lab analyzer component.  Results should be labeled either low or high and the component should correctly display the corresponding recommendations</a:t>
            </a:r>
            <a:endParaRPr/>
          </a:p>
          <a:p>
            <a:pPr indent="0" lvl="0" marL="0" rtl="0" algn="l">
              <a:spcBef>
                <a:spcPts val="1200"/>
              </a:spcBef>
              <a:spcAft>
                <a:spcPts val="0"/>
              </a:spcAft>
              <a:buClr>
                <a:schemeClr val="dk1"/>
              </a:buClr>
              <a:buSzPct val="61111"/>
              <a:buFont typeface="Arial"/>
              <a:buNone/>
            </a:pPr>
            <a:r>
              <a:rPr lang="en"/>
              <a:t>Menu Navigation (VP-05 MN)</a:t>
            </a:r>
            <a:endParaRPr/>
          </a:p>
          <a:p>
            <a:pPr indent="-291465" lvl="0" marL="457200" rtl="0" algn="l">
              <a:spcBef>
                <a:spcPts val="1200"/>
              </a:spcBef>
              <a:spcAft>
                <a:spcPts val="0"/>
              </a:spcAft>
              <a:buSzPct val="100000"/>
              <a:buChar char="-"/>
            </a:pPr>
            <a:r>
              <a:rPr lang="en"/>
              <a:t>Go through every selection in the</a:t>
            </a:r>
            <a:endParaRPr/>
          </a:p>
          <a:p>
            <a:pPr indent="-291465" lvl="0" marL="457200" rtl="0" algn="l">
              <a:spcBef>
                <a:spcPts val="0"/>
              </a:spcBef>
              <a:spcAft>
                <a:spcPts val="0"/>
              </a:spcAft>
              <a:buSzPct val="100000"/>
              <a:buChar char="-"/>
            </a:pPr>
            <a:r>
              <a:rPr lang="en"/>
              <a:t> menu to check that the system displays the corresponding screen correctly.</a:t>
            </a:r>
            <a:endParaRPr/>
          </a:p>
          <a:p>
            <a:pPr indent="0" lvl="0" marL="0" rtl="0" algn="l">
              <a:spcBef>
                <a:spcPts val="1200"/>
              </a:spcBef>
              <a:spcAft>
                <a:spcPts val="0"/>
              </a:spcAft>
              <a:buClr>
                <a:schemeClr val="dk1"/>
              </a:buClr>
              <a:buSzPct val="61111"/>
              <a:buFont typeface="Arial"/>
              <a:buNone/>
            </a:pPr>
            <a:r>
              <a:rPr lang="en"/>
              <a:t>Account Login Verification (VP-06 LV)</a:t>
            </a:r>
            <a:endParaRPr/>
          </a:p>
          <a:p>
            <a:pPr indent="-291465" lvl="0" marL="457200" rtl="0" algn="l">
              <a:spcBef>
                <a:spcPts val="1200"/>
              </a:spcBef>
              <a:spcAft>
                <a:spcPts val="0"/>
              </a:spcAft>
              <a:buSzPct val="100000"/>
              <a:buChar char="-"/>
            </a:pPr>
            <a:r>
              <a:rPr lang="en"/>
              <a:t>Test the account verification system.  The user is locked out by default until they log back in with a registered name and ID.  The user should be allowed once they input the correct name and ID.  Otherwise, they are denied access to the Vitamin Personalizer.</a:t>
            </a:r>
            <a:endParaRPr/>
          </a:p>
          <a:p>
            <a:pPr indent="0" lvl="0" marL="0" rtl="0" algn="l">
              <a:spcBef>
                <a:spcPts val="1200"/>
              </a:spcBef>
              <a:spcAft>
                <a:spcPts val="0"/>
              </a:spcAft>
              <a:buClr>
                <a:schemeClr val="dk1"/>
              </a:buClr>
              <a:buSzPct val="61111"/>
              <a:buFont typeface="Arial"/>
              <a:buNone/>
            </a:pPr>
            <a:r>
              <a:rPr lang="en"/>
              <a:t>PDF Generation (VP-07 PG)</a:t>
            </a:r>
            <a:endParaRPr/>
          </a:p>
          <a:p>
            <a:pPr indent="-291465" lvl="0" marL="457200" rtl="0" algn="l">
              <a:spcBef>
                <a:spcPts val="1200"/>
              </a:spcBef>
              <a:spcAft>
                <a:spcPts val="0"/>
              </a:spcAft>
              <a:buSzPct val="100000"/>
              <a:buChar char="-"/>
            </a:pPr>
            <a:r>
              <a:rPr lang="en"/>
              <a:t>The PDF Generator should print out the user’s current lab results after completing analysis or through Progress Check.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Defect report</a:t>
            </a:r>
            <a:endParaRPr/>
          </a:p>
        </p:txBody>
      </p:sp>
      <p:sp>
        <p:nvSpPr>
          <p:cNvPr id="143" name="Google Shape;143;p2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DBC_01: Database Connection through updating values (Minor/closed)</a:t>
            </a:r>
            <a:endParaRPr/>
          </a:p>
          <a:p>
            <a:pPr indent="-342900" lvl="0" marL="457200" rtl="0" algn="l">
              <a:spcBef>
                <a:spcPts val="1200"/>
              </a:spcBef>
              <a:spcAft>
                <a:spcPts val="0"/>
              </a:spcAft>
              <a:buSzPts val="1800"/>
              <a:buChar char="-"/>
            </a:pPr>
            <a:r>
              <a:rPr lang="en"/>
              <a:t>Old and new values conflicting as a result of updating with new vitamin inputs.</a:t>
            </a:r>
            <a:endParaRPr/>
          </a:p>
          <a:p>
            <a:pPr indent="0" lvl="0" marL="0" rtl="0" algn="l">
              <a:spcBef>
                <a:spcPts val="1200"/>
              </a:spcBef>
              <a:spcAft>
                <a:spcPts val="0"/>
              </a:spcAft>
              <a:buNone/>
            </a:pPr>
            <a:r>
              <a:rPr lang="en"/>
              <a:t>PDF_02: PDF Generation error through Progress Check (Minor/Closed)</a:t>
            </a:r>
            <a:endParaRPr/>
          </a:p>
          <a:p>
            <a:pPr indent="-342900" lvl="0" marL="457200" rtl="0" algn="l">
              <a:spcBef>
                <a:spcPts val="1200"/>
              </a:spcBef>
              <a:spcAft>
                <a:spcPts val="0"/>
              </a:spcAft>
              <a:buSzPts val="1800"/>
              <a:buChar char="-"/>
            </a:pPr>
            <a:r>
              <a:rPr lang="en"/>
              <a:t>Error regarding PDF printout of user results from the Progress Check screen.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Overview of SRS</a:t>
            </a:r>
            <a:endParaRPr/>
          </a:p>
        </p:txBody>
      </p:sp>
      <p:sp>
        <p:nvSpPr>
          <p:cNvPr id="149" name="Google Shape;149;p2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61111"/>
              <a:buFont typeface="Arial"/>
              <a:buNone/>
            </a:pPr>
            <a:r>
              <a:rPr lang="en"/>
              <a:t>Purpose: To provide specifications for developers and cover the description, functional and non-functional requirements, and interface characteristics as reference.</a:t>
            </a:r>
            <a:endParaRPr/>
          </a:p>
          <a:p>
            <a:pPr indent="0" lvl="0" marL="0" rtl="0" algn="l">
              <a:spcBef>
                <a:spcPts val="1200"/>
              </a:spcBef>
              <a:spcAft>
                <a:spcPts val="0"/>
              </a:spcAft>
              <a:buClr>
                <a:schemeClr val="dk1"/>
              </a:buClr>
              <a:buSzPct val="61111"/>
              <a:buFont typeface="Arial"/>
              <a:buNone/>
            </a:pPr>
            <a:r>
              <a:rPr lang="en"/>
              <a:t>Scope: To give personalized vitamin and diet recommendations based on blood work results with clear explanations.</a:t>
            </a:r>
            <a:endParaRPr/>
          </a:p>
          <a:p>
            <a:pPr indent="0" lvl="0" marL="0" rtl="0" algn="l">
              <a:spcBef>
                <a:spcPts val="1200"/>
              </a:spcBef>
              <a:spcAft>
                <a:spcPts val="0"/>
              </a:spcAft>
              <a:buClr>
                <a:schemeClr val="dk1"/>
              </a:buClr>
              <a:buSzPct val="61111"/>
              <a:buFont typeface="Arial"/>
              <a:buNone/>
            </a:pPr>
            <a:r>
              <a:rPr lang="en"/>
              <a:t>Objective: Provide and explain the details of reach requirement for the Vitamin Personalizer.</a:t>
            </a:r>
            <a:endParaRPr/>
          </a:p>
          <a:p>
            <a:pPr indent="0" lvl="0" marL="0" rtl="0" algn="l">
              <a:spcBef>
                <a:spcPts val="1200"/>
              </a:spcBef>
              <a:spcAft>
                <a:spcPts val="0"/>
              </a:spcAft>
              <a:buNone/>
            </a:pPr>
            <a:r>
              <a:rPr lang="en"/>
              <a:t>Key Highlights:</a:t>
            </a:r>
            <a:endParaRPr/>
          </a:p>
          <a:p>
            <a:pPr indent="-325755" lvl="0" marL="457200" rtl="0" algn="l">
              <a:spcBef>
                <a:spcPts val="1200"/>
              </a:spcBef>
              <a:spcAft>
                <a:spcPts val="0"/>
              </a:spcAft>
              <a:buSzPct val="100000"/>
              <a:buChar char="-"/>
            </a:pPr>
            <a:r>
              <a:rPr lang="en"/>
              <a:t>Overall Description of Vitamin Personalizer</a:t>
            </a:r>
            <a:endParaRPr/>
          </a:p>
          <a:p>
            <a:pPr indent="-325755" lvl="0" marL="457200" rtl="0" algn="l">
              <a:spcBef>
                <a:spcPts val="0"/>
              </a:spcBef>
              <a:spcAft>
                <a:spcPts val="0"/>
              </a:spcAft>
              <a:buSzPct val="100000"/>
              <a:buChar char="-"/>
            </a:pPr>
            <a:r>
              <a:rPr lang="en"/>
              <a:t>Functional/Non-Functional Requirements</a:t>
            </a:r>
            <a:endParaRPr/>
          </a:p>
          <a:p>
            <a:pPr indent="-325755" lvl="0" marL="457200" rtl="0" algn="l">
              <a:spcBef>
                <a:spcPts val="0"/>
              </a:spcBef>
              <a:spcAft>
                <a:spcPts val="0"/>
              </a:spcAft>
              <a:buSzPct val="100000"/>
              <a:buChar char="-"/>
            </a:pPr>
            <a:r>
              <a:rPr lang="en"/>
              <a:t>External Interface Requirements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Overview of SDD</a:t>
            </a:r>
            <a:endParaRPr/>
          </a:p>
        </p:txBody>
      </p:sp>
      <p:sp>
        <p:nvSpPr>
          <p:cNvPr id="155" name="Google Shape;155;p2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Purpose: To detail the design and architecture of the software and its implementation.</a:t>
            </a:r>
            <a:endParaRPr/>
          </a:p>
          <a:p>
            <a:pPr indent="0" lvl="0" marL="0" rtl="0" algn="l">
              <a:spcBef>
                <a:spcPts val="1200"/>
              </a:spcBef>
              <a:spcAft>
                <a:spcPts val="0"/>
              </a:spcAft>
              <a:buClr>
                <a:schemeClr val="dk1"/>
              </a:buClr>
              <a:buSzPct val="61111"/>
              <a:buFont typeface="Arial"/>
              <a:buNone/>
            </a:pPr>
            <a:r>
              <a:rPr lang="en"/>
              <a:t>Scope: Provide various diagrams, components, and design outlines of the Vitamin Personalizer.</a:t>
            </a:r>
            <a:endParaRPr/>
          </a:p>
          <a:p>
            <a:pPr indent="0" lvl="0" marL="0" rtl="0" algn="l">
              <a:spcBef>
                <a:spcPts val="1200"/>
              </a:spcBef>
              <a:spcAft>
                <a:spcPts val="0"/>
              </a:spcAft>
              <a:buNone/>
            </a:pPr>
            <a:r>
              <a:rPr lang="en"/>
              <a:t>Objective: Display various components and diagrams to provide a detail description and explanation of the Vitamin Personalizer’s functionality.</a:t>
            </a:r>
            <a:endParaRPr/>
          </a:p>
          <a:p>
            <a:pPr indent="0" lvl="0" marL="0" rtl="0" algn="l">
              <a:spcBef>
                <a:spcPts val="1200"/>
              </a:spcBef>
              <a:spcAft>
                <a:spcPts val="0"/>
              </a:spcAft>
              <a:buNone/>
            </a:pPr>
            <a:r>
              <a:rPr lang="en"/>
              <a:t>Key Highlights:</a:t>
            </a:r>
            <a:endParaRPr/>
          </a:p>
          <a:p>
            <a:pPr indent="-325755" lvl="0" marL="457200" rtl="0" algn="l">
              <a:spcBef>
                <a:spcPts val="1200"/>
              </a:spcBef>
              <a:spcAft>
                <a:spcPts val="0"/>
              </a:spcAft>
              <a:buSzPct val="100000"/>
              <a:buChar char="-"/>
            </a:pPr>
            <a:r>
              <a:rPr lang="en"/>
              <a:t>UML Design Diagram</a:t>
            </a:r>
            <a:endParaRPr/>
          </a:p>
          <a:p>
            <a:pPr indent="-325755" lvl="0" marL="457200" rtl="0" algn="l">
              <a:spcBef>
                <a:spcPts val="0"/>
              </a:spcBef>
              <a:spcAft>
                <a:spcPts val="0"/>
              </a:spcAft>
              <a:buSzPct val="100000"/>
              <a:buChar char="-"/>
            </a:pPr>
            <a:r>
              <a:rPr lang="en"/>
              <a:t>Use Case Diagram</a:t>
            </a:r>
            <a:endParaRPr/>
          </a:p>
          <a:p>
            <a:pPr indent="-325755" lvl="0" marL="457200" rtl="0" algn="l">
              <a:spcBef>
                <a:spcPts val="0"/>
              </a:spcBef>
              <a:spcAft>
                <a:spcPts val="0"/>
              </a:spcAft>
              <a:buSzPct val="100000"/>
              <a:buChar char="-"/>
            </a:pPr>
            <a:r>
              <a:rPr lang="en"/>
              <a:t>Activity Diagram</a:t>
            </a:r>
            <a:endParaRPr/>
          </a:p>
          <a:p>
            <a:pPr indent="-325755" lvl="0" marL="457200" rtl="0" algn="l">
              <a:spcBef>
                <a:spcPts val="0"/>
              </a:spcBef>
              <a:spcAft>
                <a:spcPts val="0"/>
              </a:spcAft>
              <a:buSzPct val="100000"/>
              <a:buChar char="-"/>
            </a:pPr>
            <a:r>
              <a:rPr lang="en"/>
              <a:t>ER Diagram</a:t>
            </a:r>
            <a:endParaRPr/>
          </a:p>
          <a:p>
            <a:pPr indent="-325755" lvl="0" marL="457200" rtl="0" algn="l">
              <a:spcBef>
                <a:spcPts val="0"/>
              </a:spcBef>
              <a:spcAft>
                <a:spcPts val="0"/>
              </a:spcAft>
              <a:buSzPct val="100000"/>
              <a:buChar char="-"/>
            </a:pPr>
            <a:r>
              <a:rPr lang="en"/>
              <a:t>Module Components (7 components)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Overview of STD</a:t>
            </a:r>
            <a:endParaRPr/>
          </a:p>
        </p:txBody>
      </p:sp>
      <p:sp>
        <p:nvSpPr>
          <p:cNvPr id="161" name="Google Shape;161;p2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Purpose: To test that the vitamin recommendations are as accurate as possible</a:t>
            </a:r>
            <a:endParaRPr/>
          </a:p>
          <a:p>
            <a:pPr indent="0" lvl="0" marL="0" rtl="0" algn="l">
              <a:spcBef>
                <a:spcPts val="1200"/>
              </a:spcBef>
              <a:spcAft>
                <a:spcPts val="0"/>
              </a:spcAft>
              <a:buClr>
                <a:schemeClr val="dk1"/>
              </a:buClr>
              <a:buSzPts val="1100"/>
              <a:buFont typeface="Arial"/>
              <a:buNone/>
            </a:pPr>
            <a:r>
              <a:rPr lang="en"/>
              <a:t>Scope: Go over each functionality of the components and various test cases</a:t>
            </a:r>
            <a:endParaRPr/>
          </a:p>
          <a:p>
            <a:pPr indent="0" lvl="0" marL="0" rtl="0" algn="l">
              <a:spcBef>
                <a:spcPts val="1200"/>
              </a:spcBef>
              <a:spcAft>
                <a:spcPts val="0"/>
              </a:spcAft>
              <a:buClr>
                <a:schemeClr val="dk1"/>
              </a:buClr>
              <a:buSzPts val="1100"/>
              <a:buFont typeface="Arial"/>
              <a:buNone/>
            </a:pPr>
            <a:r>
              <a:rPr lang="en"/>
              <a:t>Objective: Verify the performance of the software and document any errors or false recommendations, through 50 vitamins tests.</a:t>
            </a:r>
            <a:endParaRPr/>
          </a:p>
          <a:p>
            <a:pPr indent="0" lvl="0" marL="0" rtl="0" algn="l">
              <a:spcBef>
                <a:spcPts val="1200"/>
              </a:spcBef>
              <a:spcAft>
                <a:spcPts val="0"/>
              </a:spcAft>
              <a:buNone/>
            </a:pPr>
            <a:r>
              <a:rPr lang="en"/>
              <a:t>Key Highlights:</a:t>
            </a:r>
            <a:endParaRPr/>
          </a:p>
          <a:p>
            <a:pPr indent="-342900" lvl="0" marL="457200" rtl="0" algn="l">
              <a:spcBef>
                <a:spcPts val="1200"/>
              </a:spcBef>
              <a:spcAft>
                <a:spcPts val="0"/>
              </a:spcAft>
              <a:buSzPts val="1800"/>
              <a:buChar char="-"/>
            </a:pPr>
            <a:r>
              <a:rPr lang="en"/>
              <a:t>Test Cases/Procedure/Execution Reports</a:t>
            </a:r>
            <a:endParaRPr/>
          </a:p>
          <a:p>
            <a:pPr indent="-342900" lvl="0" marL="457200" rtl="0" algn="l">
              <a:spcBef>
                <a:spcPts val="0"/>
              </a:spcBef>
              <a:spcAft>
                <a:spcPts val="0"/>
              </a:spcAft>
              <a:buSzPts val="1800"/>
              <a:buChar char="-"/>
            </a:pPr>
            <a:r>
              <a:rPr lang="en"/>
              <a:t>Defect Report</a:t>
            </a:r>
            <a:endParaRPr/>
          </a:p>
          <a:p>
            <a:pPr indent="-342900" lvl="0" marL="457200" rtl="0" algn="l">
              <a:spcBef>
                <a:spcPts val="0"/>
              </a:spcBef>
              <a:spcAft>
                <a:spcPts val="0"/>
              </a:spcAft>
              <a:buSzPts val="1800"/>
              <a:buChar char="-"/>
            </a:pPr>
            <a:r>
              <a:rPr lang="en"/>
              <a:t>Test Summary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Security Concerns, </a:t>
            </a:r>
            <a:r>
              <a:rPr lang="en"/>
              <a:t>Challenges and Solutions </a:t>
            </a:r>
            <a:endParaRPr/>
          </a:p>
        </p:txBody>
      </p:sp>
      <p:sp>
        <p:nvSpPr>
          <p:cNvPr id="167" name="Google Shape;167;p3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Current Security:</a:t>
            </a:r>
            <a:endParaRPr/>
          </a:p>
          <a:p>
            <a:pPr indent="-317182" lvl="0" marL="457200" rtl="0" algn="l">
              <a:spcBef>
                <a:spcPts val="1200"/>
              </a:spcBef>
              <a:spcAft>
                <a:spcPts val="0"/>
              </a:spcAft>
              <a:buSzPct val="100000"/>
              <a:buChar char="●"/>
            </a:pPr>
            <a:r>
              <a:rPr lang="en"/>
              <a:t>Unique ID system for user authentication and SQL database access</a:t>
            </a:r>
            <a:endParaRPr/>
          </a:p>
          <a:p>
            <a:pPr indent="-317182" lvl="0" marL="457200" rtl="0" algn="l">
              <a:spcBef>
                <a:spcPts val="0"/>
              </a:spcBef>
              <a:spcAft>
                <a:spcPts val="0"/>
              </a:spcAft>
              <a:buSzPct val="100000"/>
              <a:buChar char="●"/>
            </a:pPr>
            <a:r>
              <a:rPr lang="en"/>
              <a:t>Local data storage on user’s device for complete privacy</a:t>
            </a:r>
            <a:endParaRPr/>
          </a:p>
          <a:p>
            <a:pPr indent="-317182" lvl="0" marL="457200" rtl="0" algn="l">
              <a:spcBef>
                <a:spcPts val="0"/>
              </a:spcBef>
              <a:spcAft>
                <a:spcPts val="0"/>
              </a:spcAft>
              <a:buSzPct val="100000"/>
              <a:buChar char="●"/>
            </a:pPr>
            <a:r>
              <a:rPr lang="en"/>
              <a:t>Basic ID-based login to access and update health information</a:t>
            </a:r>
            <a:endParaRPr/>
          </a:p>
          <a:p>
            <a:pPr indent="0" lvl="0" marL="0" rtl="0" algn="l">
              <a:spcBef>
                <a:spcPts val="1200"/>
              </a:spcBef>
              <a:spcAft>
                <a:spcPts val="0"/>
              </a:spcAft>
              <a:buNone/>
            </a:pPr>
            <a:r>
              <a:rPr lang="en"/>
              <a:t>Security Limitations:</a:t>
            </a:r>
            <a:endParaRPr/>
          </a:p>
          <a:p>
            <a:pPr indent="-317182" lvl="0" marL="457200" rtl="0" algn="l">
              <a:spcBef>
                <a:spcPts val="1200"/>
              </a:spcBef>
              <a:spcAft>
                <a:spcPts val="0"/>
              </a:spcAft>
              <a:buSzPct val="100000"/>
              <a:buChar char="●"/>
            </a:pPr>
            <a:r>
              <a:rPr lang="en"/>
              <a:t>Potential brute force. IDs could be systematically guessed</a:t>
            </a:r>
            <a:endParaRPr/>
          </a:p>
          <a:p>
            <a:pPr indent="-317182" lvl="0" marL="457200" rtl="0" algn="l">
              <a:spcBef>
                <a:spcPts val="0"/>
              </a:spcBef>
              <a:spcAft>
                <a:spcPts val="0"/>
              </a:spcAft>
              <a:buSzPct val="100000"/>
              <a:buChar char="●"/>
            </a:pPr>
            <a:r>
              <a:rPr lang="en"/>
              <a:t>Single-layer authentication currently in place</a:t>
            </a:r>
            <a:endParaRPr/>
          </a:p>
          <a:p>
            <a:pPr indent="0" lvl="0" marL="0" rtl="0" algn="l">
              <a:spcBef>
                <a:spcPts val="1200"/>
              </a:spcBef>
              <a:spcAft>
                <a:spcPts val="0"/>
              </a:spcAft>
              <a:buNone/>
            </a:pPr>
            <a:r>
              <a:rPr lang="en"/>
              <a:t>Future Enhancements:</a:t>
            </a:r>
            <a:endParaRPr/>
          </a:p>
          <a:p>
            <a:pPr indent="-317182" lvl="0" marL="457200" rtl="0" algn="l">
              <a:spcBef>
                <a:spcPts val="1200"/>
              </a:spcBef>
              <a:spcAft>
                <a:spcPts val="0"/>
              </a:spcAft>
              <a:buSzPct val="100000"/>
              <a:buChar char="●"/>
            </a:pPr>
            <a:r>
              <a:rPr lang="en"/>
              <a:t> Security questions planned for additional login verification</a:t>
            </a:r>
            <a:endParaRPr/>
          </a:p>
          <a:p>
            <a:pPr indent="-317182" lvl="0" marL="457200" rtl="0" algn="l">
              <a:spcBef>
                <a:spcPts val="0"/>
              </a:spcBef>
              <a:spcAft>
                <a:spcPts val="0"/>
              </a:spcAft>
              <a:buSzPct val="100000"/>
              <a:buChar char="●"/>
            </a:pPr>
            <a:r>
              <a:rPr lang="en"/>
              <a:t> Multi-factor authentication consideration.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87900" y="11807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of software: </a:t>
            </a:r>
            <a:endParaRPr/>
          </a:p>
        </p:txBody>
      </p:sp>
      <p:pic>
        <p:nvPicPr>
          <p:cNvPr id="173" name="Google Shape;173;p31" title="VitaminPersonalizerUse - Made with Clipchamp.mp4">
            <a:hlinkClick r:id="rId3"/>
          </p:cNvPr>
          <p:cNvPicPr preferRelativeResize="0"/>
          <p:nvPr/>
        </p:nvPicPr>
        <p:blipFill>
          <a:blip r:embed="rId4">
            <a:alphaModFix/>
          </a:blip>
          <a:stretch>
            <a:fillRect/>
          </a:stretch>
        </p:blipFill>
        <p:spPr>
          <a:xfrm>
            <a:off x="1593550" y="804175"/>
            <a:ext cx="5956900" cy="4263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179" name="Google Shape;179;p3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Overall: The Vitamin Personalizer, while still needing more testing and fixing before release, its </a:t>
            </a:r>
            <a:r>
              <a:rPr lang="en"/>
              <a:t>components</a:t>
            </a:r>
            <a:r>
              <a:rPr lang="en"/>
              <a:t> work and function as expected and efficiently.  The majority of the system is functional and stable for vitamin recommendations for the general public.</a:t>
            </a:r>
            <a:endParaRPr/>
          </a:p>
          <a:p>
            <a:pPr indent="0" lvl="0" marL="0" rtl="0" algn="l">
              <a:spcBef>
                <a:spcPts val="1200"/>
              </a:spcBef>
              <a:spcAft>
                <a:spcPts val="0"/>
              </a:spcAft>
              <a:buNone/>
            </a:pPr>
            <a:r>
              <a:rPr lang="en"/>
              <a:t>Summary results:</a:t>
            </a:r>
            <a:endParaRPr/>
          </a:p>
          <a:p>
            <a:pPr indent="-308610" lvl="0" marL="457200" rtl="0" algn="l">
              <a:spcBef>
                <a:spcPts val="1200"/>
              </a:spcBef>
              <a:spcAft>
                <a:spcPts val="0"/>
              </a:spcAft>
              <a:buSzPct val="100000"/>
              <a:buChar char="-"/>
            </a:pPr>
            <a:r>
              <a:rPr lang="en"/>
              <a:t>Total Test Cases Executed: 7 </a:t>
            </a:r>
            <a:endParaRPr/>
          </a:p>
          <a:p>
            <a:pPr indent="-308610" lvl="0" marL="457200" rtl="0" algn="l">
              <a:spcBef>
                <a:spcPts val="0"/>
              </a:spcBef>
              <a:spcAft>
                <a:spcPts val="0"/>
              </a:spcAft>
              <a:buSzPct val="100000"/>
              <a:buChar char="-"/>
            </a:pPr>
            <a:r>
              <a:rPr lang="en"/>
              <a:t>Pass/Fail Ratio: 5 passed, 2 failed </a:t>
            </a:r>
            <a:endParaRPr/>
          </a:p>
          <a:p>
            <a:pPr indent="-308610" lvl="0" marL="457200" rtl="0" algn="l">
              <a:spcBef>
                <a:spcPts val="0"/>
              </a:spcBef>
              <a:spcAft>
                <a:spcPts val="0"/>
              </a:spcAft>
              <a:buSzPct val="100000"/>
              <a:buChar char="-"/>
            </a:pPr>
            <a:r>
              <a:rPr lang="en"/>
              <a:t>Defects Found: 2 minor defects</a:t>
            </a:r>
            <a:endParaRPr/>
          </a:p>
          <a:p>
            <a:pPr indent="-308610" lvl="0" marL="457200" rtl="0" algn="l">
              <a:spcBef>
                <a:spcPts val="0"/>
              </a:spcBef>
              <a:spcAft>
                <a:spcPts val="0"/>
              </a:spcAft>
              <a:buSzPct val="100000"/>
              <a:buChar char="-"/>
            </a:pPr>
            <a:r>
              <a:rPr lang="en"/>
              <a:t>71% (5/7 test cases) success rate</a:t>
            </a:r>
            <a:endParaRPr/>
          </a:p>
          <a:p>
            <a:pPr indent="0" lvl="0" marL="0" rtl="0" algn="l">
              <a:spcBef>
                <a:spcPts val="1200"/>
              </a:spcBef>
              <a:spcAft>
                <a:spcPts val="0"/>
              </a:spcAft>
              <a:buNone/>
            </a:pPr>
            <a:r>
              <a:rPr lang="en"/>
              <a:t>Key Findings:</a:t>
            </a:r>
            <a:endParaRPr/>
          </a:p>
          <a:p>
            <a:pPr indent="-308610" lvl="0" marL="457200" rtl="0" algn="l">
              <a:spcBef>
                <a:spcPts val="1200"/>
              </a:spcBef>
              <a:spcAft>
                <a:spcPts val="0"/>
              </a:spcAft>
              <a:buSzPct val="100000"/>
              <a:buChar char="-"/>
            </a:pPr>
            <a:r>
              <a:rPr lang="en"/>
              <a:t>Strong verification functionality with account registration</a:t>
            </a:r>
            <a:endParaRPr/>
          </a:p>
          <a:p>
            <a:pPr indent="-308610" lvl="0" marL="457200" rtl="0" algn="l">
              <a:spcBef>
                <a:spcPts val="0"/>
              </a:spcBef>
              <a:spcAft>
                <a:spcPts val="0"/>
              </a:spcAft>
              <a:buSzPct val="100000"/>
              <a:buChar char="-"/>
            </a:pPr>
            <a:r>
              <a:rPr lang="en"/>
              <a:t>Highly effective analysis on vitamin values and recommendations</a:t>
            </a:r>
            <a:endParaRPr/>
          </a:p>
          <a:p>
            <a:pPr indent="-308610" lvl="0" marL="457200" rtl="0" algn="l">
              <a:spcBef>
                <a:spcPts val="0"/>
              </a:spcBef>
              <a:spcAft>
                <a:spcPts val="0"/>
              </a:spcAft>
              <a:buSzPct val="100000"/>
              <a:buChar char="-"/>
            </a:pPr>
            <a:r>
              <a:rPr lang="en"/>
              <a:t>Proficient Data Storage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